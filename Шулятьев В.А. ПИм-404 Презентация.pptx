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3"/>
  </p:notesMasterIdLst>
  <p:handoutMasterIdLst>
    <p:handoutMasterId r:id="rId14"/>
  </p:handoutMasterIdLst>
  <p:sldIdLst>
    <p:sldId id="257" r:id="rId5"/>
    <p:sldId id="384" r:id="rId6"/>
    <p:sldId id="317" r:id="rId7"/>
    <p:sldId id="277" r:id="rId8"/>
    <p:sldId id="385" r:id="rId9"/>
    <p:sldId id="386" r:id="rId10"/>
    <p:sldId id="387" r:id="rId11"/>
    <p:sldId id="388" r:id="rId12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5" autoAdjust="0"/>
    <p:restoredTop sz="93725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09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6E7A67B-0B31-4277-AC38-EACC797B8A6F}" type="datetime1">
              <a:rPr lang="ru-RU" smtClean="0"/>
              <a:t>11.01.2026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23CDBB5-5B4A-4483-935D-A73935186B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0631982-23A7-4AAC-9962-80E5FE748967}" type="datetime1">
              <a:rPr lang="ru-RU" smtClean="0"/>
              <a:t>11.01.2026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7CCE34D-CFF1-4FFE-815B-D050E7ED2D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ru-RU" smtClean="0"/>
              <a:t>1</a:t>
            </a:fld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61E9D1-BF42-4EC0-B8FA-48BB14C27E3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169DE78-31D4-4ACE-9E53-8F5B4185DCFD}" type="datetime1">
              <a:rPr lang="ru-RU" smtClean="0"/>
              <a:t>11.01.2026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ru-RU" smtClean="0"/>
              <a:t>2</a:t>
            </a:fld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5FE145-85EA-409B-90E4-DB035B9875E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F1E7CF4-04B8-46EE-AAB3-3E09B68C114C}" type="datetime1">
              <a:rPr lang="ru-RU" smtClean="0"/>
              <a:t>11.01.2026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331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983A999-5E0E-42CA-8400-604AE921FF7C}" type="slidenum">
              <a:rPr lang="ru-RU" smtClean="0"/>
              <a:t>3</a:t>
            </a:fld>
            <a:endParaRPr lang="ru-RU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F09585-046A-499B-8378-B49E9590692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F2EACF9-40BB-4401-8168-0D158E173CEA}" type="datetime1">
              <a:rPr lang="ru-RU" smtClean="0"/>
              <a:t>11.01.2026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ru-RU" sz="4800"/>
              <a:t>3DFloat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rtlCol="0" anchor="b" anchorCtr="0">
            <a:noAutofit/>
          </a:bodyPr>
          <a:lstStyle>
            <a:lvl1pPr>
              <a:defRPr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rtlCol="0" anchor="t" anchorCtr="0">
            <a:noAutofit/>
          </a:bodyPr>
          <a:lstStyle>
            <a:lvl1pPr>
              <a:buNone/>
              <a:defRPr/>
            </a:lvl1pPr>
          </a:lstStyle>
          <a:p>
            <a:pPr rtl="0">
              <a:lnSpc>
                <a:spcPct val="120000"/>
              </a:lnSpc>
            </a:pPr>
            <a:r>
              <a:rPr lang="ru-RU" sz="1600"/>
              <a:t>Текст слайда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Полилиния: Фигура 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9" name="Рисунок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Разрыв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>
            <a:lvl1pPr>
              <a:defRPr sz="6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ru-RU">
                <a:solidFill>
                  <a:schemeClr val="tx1">
                    <a:alpha val="60000"/>
                  </a:schemeClr>
                </a:solidFill>
              </a:rPr>
              <a:t>Образец подзаголовка</a:t>
            </a:r>
            <a:endParaRPr lang="ru-RU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Разрыв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rtlCol="0"/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 rtlCol="0"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pPr rtl="0"/>
            <a:r>
              <a:rPr lang="ru-RU">
                <a:solidFill>
                  <a:schemeClr val="tx1">
                    <a:alpha val="60000"/>
                  </a:schemeClr>
                </a:solidFill>
              </a:rPr>
              <a:t>Образец подзаголовка</a:t>
            </a:r>
            <a:endParaRPr lang="ru-RU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rtlCol="0"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Временная шкала таблицы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 rtlCol="0">
            <a:no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rtlCol="0" anchor="b" anchorCtr="0">
            <a:noAutofit/>
          </a:bodyPr>
          <a:lstStyle>
            <a:lvl1pPr>
              <a:defRPr sz="40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Полилиния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0" name="Полилиния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Полилиния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Овал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7" name="Объект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40" name="Заголовок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 rtlCol="0">
            <a:noAutofit/>
          </a:bodyPr>
          <a:lstStyle/>
          <a:p>
            <a:pPr rtl="0"/>
            <a:r>
              <a:rPr lang="ru-RU"/>
              <a:t>Команда</a:t>
            </a:r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Полилиния: Фигура 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53" name="Полилиния: Фигура 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54" name="Овал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55" name="Овал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57" name="Рисунок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58" name="Рисунок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59" name="Рисунок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ru-RU"/>
              <a:t>Должность</a:t>
            </a:r>
          </a:p>
        </p:txBody>
      </p:sp>
      <p:sp>
        <p:nvSpPr>
          <p:cNvPr id="65" name="Текст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ru-RU"/>
              <a:t>Должность</a:t>
            </a:r>
          </a:p>
        </p:txBody>
      </p:sp>
      <p:sp>
        <p:nvSpPr>
          <p:cNvPr id="67" name="Текст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66" name="Текст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ru-RU"/>
              <a:t>Должность</a:t>
            </a:r>
          </a:p>
        </p:txBody>
      </p:sp>
      <p:sp>
        <p:nvSpPr>
          <p:cNvPr id="69" name="Текст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 rtlCol="0">
            <a:noAutofit/>
          </a:bodyPr>
          <a:lstStyle>
            <a:lvl1pPr>
              <a:buNone/>
              <a:defRPr sz="2000" b="1"/>
            </a:lvl1pPr>
          </a:lstStyle>
          <a:p>
            <a:pPr lvl="0" rtl="0"/>
            <a:r>
              <a:rPr lang="ru-RU"/>
              <a:t>Имя</a:t>
            </a:r>
          </a:p>
        </p:txBody>
      </p:sp>
      <p:sp>
        <p:nvSpPr>
          <p:cNvPr id="68" name="Текст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 rtlCol="0">
            <a:noAutofit/>
          </a:bodyPr>
          <a:lstStyle>
            <a:lvl1pPr>
              <a:buNone/>
              <a:defRPr sz="1800"/>
            </a:lvl1pPr>
          </a:lstStyle>
          <a:p>
            <a:pPr lvl="0" rtl="0"/>
            <a:r>
              <a:rPr lang="ru-RU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Содержимое с 2 столбцами (слайд для сравнен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ru-RU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Содержимое с 3 столбц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48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Образец заголовка</a:t>
            </a:r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 rtlCol="0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ru-RU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ru-RU"/>
              <a:t>Образец текста</a:t>
            </a:r>
          </a:p>
        </p:txBody>
      </p:sp>
      <p:sp>
        <p:nvSpPr>
          <p:cNvPr id="23" name="Объект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ru-RU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 rtl="0"/>
            <a:r>
              <a:rPr lang="ru-RU"/>
              <a:t>Щелкните, чтобы ИЗМЕНИТЬ</a:t>
            </a:r>
          </a:p>
        </p:txBody>
      </p:sp>
      <p:sp>
        <p:nvSpPr>
          <p:cNvPr id="21" name="Объект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 rtlCol="0"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rtlCol="0" anchor="t" anchorCtr="0">
            <a:noAutofit/>
          </a:bodyPr>
          <a:lstStyle/>
          <a:p>
            <a:pPr rtl="0"/>
            <a:r>
              <a:rPr lang="ru-RU"/>
              <a:t>Образец заголовка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 rtlCol="0"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Заголовок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rtlCol="0" anchor="b" anchorCtr="0">
            <a:noAutofit/>
          </a:bodyPr>
          <a:lstStyle/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rtlCol="0">
            <a:noAutofit/>
          </a:bodyPr>
          <a:lstStyle>
            <a:lvl1pPr>
              <a:buNone/>
              <a:defRPr sz="2400"/>
            </a:lvl1pPr>
          </a:lstStyle>
          <a:p>
            <a:pPr rtl="0"/>
            <a:r>
              <a:rPr lang="ru-RU">
                <a:solidFill>
                  <a:schemeClr val="tx1">
                    <a:alpha val="60000"/>
                  </a:schemeClr>
                </a:solidFill>
              </a:rPr>
              <a:t>Образец подзаголовка</a:t>
            </a:r>
            <a:endParaRPr lang="ru-RU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 rtlCol="0">
            <a:noAutofit/>
          </a:bodyPr>
          <a:lstStyle/>
          <a:p>
            <a:pPr rtl="0"/>
            <a:r>
              <a:rPr lang="ru-RU"/>
              <a:t>Вставка рисунка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Полилиния: Фигура 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5" name="Овал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46" name="Полилиния: Фигура 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Дата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 rtlCol="0">
            <a:no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Полилиния: Фигура 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rtlCol="0"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 rtlCol="0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Вторник, 2 февраля 20XX 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/>
          <a:p>
            <a:pPr rtl="0"/>
            <a:r>
              <a:rPr lang="ru-RU"/>
              <a:t>Образец текста нижнего колонтитула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/>
          <a:p>
            <a:pPr rtl="0"/>
            <a:fld id="{DBA1B0FB-D917-4C8C-928F-313BD683BF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 rtl="0">
              <a:lnSpc>
                <a:spcPct val="100000"/>
              </a:lnSpc>
            </a:pPr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dirty="0"/>
              <a:t>Вторник, 2 февраля 20XX г.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ru-RU" dirty="0"/>
              <a:t>Образец текста нижнего колонтитула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Calibri" panose="020F0502020204030204" pitchFamily="34" charset="0"/>
          <a:ea typeface="+mn-ea"/>
          <a:cs typeface="+mn-cs"/>
        </a:defRPr>
      </a:lvl1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471" y="1051551"/>
            <a:ext cx="3810467" cy="2384898"/>
          </a:xfrm>
        </p:spPr>
        <p:txBody>
          <a:bodyPr rtlCol="0" anchor="b" anchorCtr="0">
            <a:normAutofit fontScale="90000"/>
          </a:bodyPr>
          <a:lstStyle/>
          <a:p>
            <a:pPr rtl="0"/>
            <a:r>
              <a:rPr lang="ru-RU" dirty="0"/>
              <a:t>Мобильное приложение для отслеживания погоды</a:t>
            </a:r>
          </a:p>
        </p:txBody>
      </p:sp>
      <p:pic>
        <p:nvPicPr>
          <p:cNvPr id="14" name="Рисунок 13" descr="Цифровой фон точек данных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Студент: Шулятьев В.А.</a:t>
            </a:r>
          </a:p>
          <a:p>
            <a:pPr rtl="0"/>
            <a:r>
              <a:rPr lang="ru-RU" dirty="0"/>
              <a:t>Группа: ПИм-404</a:t>
            </a: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rtlCol="0"/>
          <a:lstStyle/>
          <a:p>
            <a:pPr rtl="0"/>
            <a:r>
              <a:rPr lang="ru-RU"/>
              <a:t>Введение</a:t>
            </a:r>
            <a:endParaRPr lang="ru-RU" dirty="0"/>
          </a:p>
        </p:txBody>
      </p:sp>
      <p:pic>
        <p:nvPicPr>
          <p:cNvPr id="18" name="Рисунок 17" descr="Несколько человек сидят за столом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0"/>
            <a:ext cx="3054096" cy="3776472"/>
          </a:xfrm>
        </p:spPr>
      </p:pic>
      <p:pic>
        <p:nvPicPr>
          <p:cNvPr id="20" name="Рисунок 19" descr="Цифровой фон точек данных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3054096" y="0"/>
            <a:ext cx="3054096" cy="3776472"/>
          </a:xfrm>
        </p:spPr>
      </p:pic>
      <p:pic>
        <p:nvPicPr>
          <p:cNvPr id="25" name="Рисунок 24" descr="Экран цифровой графики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9137904" y="0"/>
            <a:ext cx="3054096" cy="3776472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ru-RU" smtClean="0"/>
              <a:pPr rtl="0"/>
              <a:t>2</a:t>
            </a:fld>
            <a:endParaRPr lang="ru-RU"/>
          </a:p>
        </p:txBody>
      </p:sp>
      <p:pic>
        <p:nvPicPr>
          <p:cNvPr id="23" name="Рисунок 22" descr="Человек рисует на белой доске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6083808" y="0"/>
            <a:ext cx="3054096" cy="3776472"/>
          </a:xfrm>
        </p:spPr>
      </p:pic>
      <p:sp>
        <p:nvSpPr>
          <p:cNvPr id="12" name="Объект 11">
            <a:extLst>
              <a:ext uri="{FF2B5EF4-FFF2-40B4-BE49-F238E27FC236}">
                <a16:creationId xmlns:a16="http://schemas.microsoft.com/office/drawing/2014/main" id="{E5127060-CDBF-435F-9009-A5451CCE30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563" y="4508500"/>
            <a:ext cx="6221412" cy="1563688"/>
          </a:xfrm>
          <a:noFill/>
        </p:spPr>
        <p:txBody>
          <a:bodyPr rtlCol="0">
            <a:normAutofit/>
          </a:bodyPr>
          <a:lstStyle/>
          <a:p>
            <a:pPr rtl="0"/>
            <a:r>
              <a:rPr lang="ru-RU" dirty="0"/>
              <a:t>Приложение получает данные о погоде с сайта </a:t>
            </a:r>
            <a:r>
              <a:rPr lang="en-US" dirty="0"/>
              <a:t>open-meteo.com </a:t>
            </a:r>
            <a:r>
              <a:rPr lang="ru-RU" dirty="0"/>
              <a:t>и отображает их в список</a:t>
            </a:r>
          </a:p>
          <a:p>
            <a:pPr rtl="0"/>
            <a:r>
              <a:rPr lang="ru-RU" dirty="0"/>
              <a:t>Для обновления данных следует коснуться элемента списка</a:t>
            </a:r>
          </a:p>
        </p:txBody>
      </p:sp>
    </p:spTree>
    <p:extLst>
      <p:ext uri="{BB962C8B-B14F-4D97-AF65-F5344CB8AC3E}">
        <p14:creationId xmlns:p14="http://schemas.microsoft.com/office/powerpoint/2010/main" val="215888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Полилиния: Фигура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42" name="Полилиния: Фигура 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43" name="Овал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 useBgFill="1"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pic>
        <p:nvPicPr>
          <p:cNvPr id="8" name="Рисунок 7" descr="Цифровой фон точек данных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5" name="Заголовок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670170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rtl="0">
              <a:lnSpc>
                <a:spcPct val="100000"/>
              </a:lnSpc>
            </a:pPr>
            <a:r>
              <a:rPr lang="ru-RU" sz="6400" kern="1200" dirty="0">
                <a:solidFill>
                  <a:schemeClr val="tx1"/>
                </a:solidFill>
                <a:ea typeface="+mj-ea"/>
                <a:cs typeface="+mj-cs"/>
              </a:rPr>
              <a:t>Многопоточность</a:t>
            </a:r>
          </a:p>
        </p:txBody>
      </p:sp>
      <p:sp>
        <p:nvSpPr>
          <p:cNvPr id="16" name="Подзаголовок 15">
            <a:extLst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>
            <a:normAutofit/>
          </a:bodyPr>
          <a:lstStyle/>
          <a:p>
            <a:pPr marL="0" indent="0" rtl="0">
              <a:lnSpc>
                <a:spcPct val="100000"/>
              </a:lnSpc>
              <a:buNone/>
            </a:pPr>
            <a:r>
              <a:rPr lang="ru-RU" kern="1200" dirty="0">
                <a:ea typeface="+mn-ea"/>
                <a:cs typeface="+mn-cs"/>
              </a:rPr>
              <a:t>Запросы к </a:t>
            </a:r>
            <a:r>
              <a:rPr lang="ru-RU" kern="1200" dirty="0" err="1">
                <a:ea typeface="+mn-ea"/>
                <a:cs typeface="+mn-cs"/>
              </a:rPr>
              <a:t>api</a:t>
            </a:r>
            <a:r>
              <a:rPr lang="ru-RU" kern="1200" dirty="0">
                <a:ea typeface="+mn-ea"/>
                <a:cs typeface="+mn-cs"/>
              </a:rPr>
              <a:t> сервиса погоды выполнены в отдельных потоках и не влияют на работоспособность основного окна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BA1B0FB-D917-4C8C-928F-313BD683BF3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3E174092-82D3-44E0-8948-4096232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rtlCol="0"/>
          <a:lstStyle/>
          <a:p>
            <a:pPr rtl="0"/>
            <a:r>
              <a:rPr lang="ru-RU" dirty="0"/>
              <a:t>База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5C33DF-36C9-49E9-B48D-A320B179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rtlCol="0"/>
          <a:lstStyle/>
          <a:p>
            <a:pPr rtl="0"/>
            <a:fld id="{DBA1B0FB-D917-4C8C-928F-313BD683BF39}" type="slidenum">
              <a:rPr lang="ru-RU" smtClean="0"/>
              <a:pPr rtl="0"/>
              <a:t>4</a:t>
            </a:fld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6849AEAC-58C6-CDB5-CAC5-5CC188E310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036" y="1365404"/>
            <a:ext cx="7144870" cy="51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8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48EFA-8A38-2E04-AB73-F6509D85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Главный экран приложения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09FC8EC-F9B2-FE1F-9076-6F17C788E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1058" y="1192494"/>
            <a:ext cx="2708354" cy="566550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09877D-B652-B495-CEB2-E96F0413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ru-RU" smtClean="0"/>
              <a:t>5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9D08516-E037-CDFD-7F85-5C2762EE0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590" y="1192494"/>
            <a:ext cx="2711145" cy="566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1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861A7-10EE-8A0B-1E71-CDA3C814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 добавления новой точки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088B307-6B70-19D7-A91D-269B4CE79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531" y="1228127"/>
            <a:ext cx="2487623" cy="525019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7421A3-3F58-F5AA-BB05-8D5E6E4E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ru-RU" smtClean="0"/>
              <a:t>6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9FCF97-50E8-BA7D-91A1-388BAAE29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706" y="1215275"/>
            <a:ext cx="2521460" cy="526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6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22C4E-8211-283D-B990-EF022C1CD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Карточка погоды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BBE40FE-8747-9F98-86AB-6EC1709F1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67600" y="2471974"/>
            <a:ext cx="2872989" cy="1676545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A3A2C5-5918-F36C-758D-46564B15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ru-RU" smtClean="0"/>
              <a:t>7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98405E-D8F9-AD26-CCA5-25A8E897F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655" y="2517698"/>
            <a:ext cx="2872989" cy="16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01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777AB-B76D-38AE-A2B5-5C98DBC3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200" y="2097000"/>
            <a:ext cx="11091600" cy="133200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03DB1-F336-E133-042B-5DBAD1522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BA1B0FB-D917-4C8C-928F-313BD683BF3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65105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4689.tgt.Office_50301374_TF33713516_Win32_OJ112196127.potx" id="{7A3E99C7-7398-4AA7-AB21-8D666C96B31B}" vid="{C127490F-BAD3-4E07-8D92-987EE13E246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4876F9-7AE1-498D-B8FE-1E3AD703D2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{4F6CA86C-6F59-42DC-9940-DFAFA2D6D7FF}tf33713516_win32</Template>
  <TotalTime>115</TotalTime>
  <Words>84</Words>
  <Application>Microsoft Office PowerPoint</Application>
  <PresentationFormat>Широкоэкранный</PresentationFormat>
  <Paragraphs>26</Paragraphs>
  <Slides>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3DFloatVTI</vt:lpstr>
      <vt:lpstr>Мобильное приложение для отслеживания погоды</vt:lpstr>
      <vt:lpstr>Введение</vt:lpstr>
      <vt:lpstr>Многопоточность</vt:lpstr>
      <vt:lpstr>База данных</vt:lpstr>
      <vt:lpstr>Главный экран приложения</vt:lpstr>
      <vt:lpstr>Экран добавления новой точки</vt:lpstr>
      <vt:lpstr>Карточка погоды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Сергей Осипов</dc:creator>
  <cp:lastModifiedBy>Виталя Шулятьев</cp:lastModifiedBy>
  <cp:revision>7</cp:revision>
  <dcterms:created xsi:type="dcterms:W3CDTF">2023-04-11T13:13:15Z</dcterms:created>
  <dcterms:modified xsi:type="dcterms:W3CDTF">2026-01-11T16:08:16Z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